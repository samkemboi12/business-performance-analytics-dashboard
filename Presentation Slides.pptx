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71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08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49265F-0ADB-46CE-928D-69E1EFF393D9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646E6D-EBC2-4E40-87F0-8E9426681A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95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1" y="365761"/>
            <a:ext cx="712695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3557"/>
                </a:solidFill>
              </a:rPr>
              <a:t>Customer Behavior, Revenue, and Loyalty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420762" y="3075057"/>
            <a:ext cx="6858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Executive review of revenue concentration, discounts, subscriptions, product performance, and retention patterns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90387" y="1725543"/>
            <a:ext cx="4110867" cy="4114800"/>
          </a:xfrm>
          <a:prstGeom prst="roundRect">
            <a:avLst/>
          </a:prstGeom>
          <a:solidFill>
            <a:srgbClr val="E9C46A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 Insight</a:t>
            </a:r>
          </a:p>
          <a:p>
            <a:r>
              <a:rPr sz="1600" dirty="0">
                <a:solidFill>
                  <a:srgbClr val="1D3557"/>
                </a:solidFill>
              </a:rPr>
              <a:t>Decision-ready takeaway designed for leadership discussion and fast action.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1" y="365761"/>
            <a:ext cx="262257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3557"/>
                </a:solidFill>
              </a:rPr>
              <a:t>Why This Matters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8400" y="1828800"/>
            <a:ext cx="6858000" cy="263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Determine which customer groups generate the most revenue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Evaluate whether subscription and discounting improve business value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Identify strongest products, customer segments, and demographic groups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Translate findings into actions for pricing, retention, and growth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58748" y="1828800"/>
            <a:ext cx="3520932" cy="4114800"/>
          </a:xfrm>
          <a:prstGeom prst="roundRect">
            <a:avLst/>
          </a:prstGeom>
          <a:solidFill>
            <a:srgbClr val="2A9D8F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 Insight</a:t>
            </a:r>
          </a:p>
          <a:p>
            <a:r>
              <a:rPr sz="1600" dirty="0">
                <a:solidFill>
                  <a:srgbClr val="1D3557"/>
                </a:solidFill>
              </a:rPr>
              <a:t>Decision-ready takeaway designed for leadership discussion and fast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alpha val="61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00CB22E-05CB-BA04-FF29-A913203B5813}"/>
              </a:ext>
            </a:extLst>
          </p:cNvPr>
          <p:cNvSpPr txBox="1"/>
          <p:nvPr/>
        </p:nvSpPr>
        <p:spPr>
          <a:xfrm>
            <a:off x="1981201" y="182881"/>
            <a:ext cx="2687659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1D3557"/>
                </a:solidFill>
              </a:rPr>
              <a:t>Executive Summary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C173077-1165-D081-0268-B3C3D14C9A5F}"/>
              </a:ext>
            </a:extLst>
          </p:cNvPr>
          <p:cNvSpPr/>
          <p:nvPr/>
        </p:nvSpPr>
        <p:spPr>
          <a:xfrm>
            <a:off x="1981200" y="914400"/>
            <a:ext cx="2194560" cy="10058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1D3557"/>
                </a:solidFill>
              </a:rPr>
              <a:t>67.74%</a:t>
            </a:r>
          </a:p>
          <a:p>
            <a:r>
              <a:rPr sz="1000" dirty="0">
                <a:solidFill>
                  <a:srgbClr val="1D3557"/>
                </a:solidFill>
              </a:rPr>
              <a:t>Male Revenue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B489414-1EFD-FF67-E20F-4AC2AF793253}"/>
              </a:ext>
            </a:extLst>
          </p:cNvPr>
          <p:cNvSpPr/>
          <p:nvPr/>
        </p:nvSpPr>
        <p:spPr>
          <a:xfrm>
            <a:off x="4267200" y="914400"/>
            <a:ext cx="2194560" cy="10058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1D3557"/>
                </a:solidFill>
              </a:rPr>
              <a:t>$59.49 vs $59.87</a:t>
            </a:r>
          </a:p>
          <a:p>
            <a:r>
              <a:rPr sz="1000" dirty="0">
                <a:solidFill>
                  <a:srgbClr val="1D3557"/>
                </a:solidFill>
              </a:rPr>
              <a:t>Sub vs Non-Sub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893081C-E76E-4FAE-4EA1-85B24E4BC9DA}"/>
              </a:ext>
            </a:extLst>
          </p:cNvPr>
          <p:cNvSpPr/>
          <p:nvPr/>
        </p:nvSpPr>
        <p:spPr>
          <a:xfrm>
            <a:off x="6553200" y="914400"/>
            <a:ext cx="2194560" cy="10058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1D3557"/>
                </a:solidFill>
              </a:rPr>
              <a:t>79.90%</a:t>
            </a:r>
          </a:p>
          <a:p>
            <a:r>
              <a:rPr sz="1000" dirty="0">
                <a:solidFill>
                  <a:srgbClr val="1D3557"/>
                </a:solidFill>
              </a:rPr>
              <a:t>Loyal Segment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C886090-B81B-9CF7-A6CE-98D53C7DCBDA}"/>
              </a:ext>
            </a:extLst>
          </p:cNvPr>
          <p:cNvSpPr/>
          <p:nvPr/>
        </p:nvSpPr>
        <p:spPr>
          <a:xfrm>
            <a:off x="8839200" y="914400"/>
            <a:ext cx="2194560" cy="100584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b="1" dirty="0">
              <a:solidFill>
                <a:srgbClr val="1D3557"/>
              </a:solidFill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89D7E9B5-0793-AE3D-BE6E-DBD137B2A63C}"/>
              </a:ext>
            </a:extLst>
          </p:cNvPr>
          <p:cNvSpPr/>
          <p:nvPr/>
        </p:nvSpPr>
        <p:spPr>
          <a:xfrm>
            <a:off x="8473441" y="877252"/>
            <a:ext cx="2194560" cy="1005840"/>
          </a:xfrm>
          <a:prstGeom prst="round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dirty="0">
                <a:solidFill>
                  <a:srgbClr val="1D3557"/>
                </a:solidFill>
              </a:rPr>
              <a:t>26–65</a:t>
            </a:r>
          </a:p>
          <a:p>
            <a:r>
              <a:rPr sz="1000" dirty="0">
                <a:solidFill>
                  <a:srgbClr val="1D3557"/>
                </a:solidFill>
              </a:rPr>
              <a:t>Core Age Band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E26680F-42C7-F561-C987-560985297BD4}"/>
              </a:ext>
            </a:extLst>
          </p:cNvPr>
          <p:cNvSpPr txBox="1"/>
          <p:nvPr/>
        </p:nvSpPr>
        <p:spPr>
          <a:xfrm>
            <a:off x="10668001" y="0"/>
            <a:ext cx="2194561" cy="369332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1A7FA64-B377-3581-B83E-651FDA3A1F3C}"/>
              </a:ext>
            </a:extLst>
          </p:cNvPr>
          <p:cNvSpPr txBox="1"/>
          <p:nvPr/>
        </p:nvSpPr>
        <p:spPr>
          <a:xfrm>
            <a:off x="2219802" y="2926081"/>
            <a:ext cx="685800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Male customers contribute 67.74% of revenue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Subscribers do not spend more than non-subscribers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79.90% of customers fall into Loyal segment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Repeat buyers only slightly more likely to subscribe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Most revenue comes from customers aged 26–65</a:t>
            </a:r>
          </a:p>
        </p:txBody>
      </p:sp>
      <p:sp>
        <p:nvSpPr>
          <p:cNvPr id="13" name="Rounded Rectangle 4">
            <a:extLst>
              <a:ext uri="{FF2B5EF4-FFF2-40B4-BE49-F238E27FC236}">
                <a16:creationId xmlns:a16="http://schemas.microsoft.com/office/drawing/2014/main" id="{5A7BE3A2-8D27-CA1D-07A4-697B9C5A995C}"/>
              </a:ext>
            </a:extLst>
          </p:cNvPr>
          <p:cNvSpPr/>
          <p:nvPr/>
        </p:nvSpPr>
        <p:spPr>
          <a:xfrm>
            <a:off x="8016243" y="1883092"/>
            <a:ext cx="4134802" cy="4680584"/>
          </a:xfrm>
          <a:prstGeom prst="roundRect">
            <a:avLst/>
          </a:prstGeom>
          <a:solidFill>
            <a:srgbClr val="E9C46A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 Insight</a:t>
            </a:r>
          </a:p>
          <a:p>
            <a:r>
              <a:rPr lang="en-US" sz="1600" dirty="0">
                <a:solidFill>
                  <a:schemeClr val="tx1"/>
                </a:solidFill>
              </a:rPr>
              <a:t>Revenue is heavily male driven and concentrated in loyal customers, but subscriptions aren’t boosting spend. Focus on targeted promotions for underperforming segments and optimize top products to increase revenue impact.</a:t>
            </a:r>
            <a:r>
              <a:rPr sz="1600" dirty="0">
                <a:solidFill>
                  <a:srgbClr val="1D3557"/>
                </a:solidFill>
              </a:rPr>
              <a:t>.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49D8BCC-5330-32D6-D9FD-ACD97F085448}"/>
              </a:ext>
            </a:extLst>
          </p:cNvPr>
          <p:cNvSpPr/>
          <p:nvPr/>
        </p:nvSpPr>
        <p:spPr>
          <a:xfrm>
            <a:off x="1981200" y="658654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8458251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1" y="365761"/>
            <a:ext cx="628127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D3557"/>
                </a:solidFill>
              </a:rPr>
              <a:t>Revenue Is Concentrated in Male Customers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8400" y="1828801"/>
            <a:ext cx="68580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Male revenue: $157,890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Female revenue: $75,191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Concentration should influence targeting priorities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908026" y="1828800"/>
            <a:ext cx="3771654" cy="4114800"/>
          </a:xfrm>
          <a:prstGeom prst="roundRect">
            <a:avLst/>
          </a:prstGeom>
          <a:solidFill>
            <a:srgbClr val="2A9D8F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 Insight</a:t>
            </a:r>
          </a:p>
          <a:p>
            <a:r>
              <a:rPr lang="en-US" sz="1600" dirty="0">
                <a:solidFill>
                  <a:schemeClr val="tx1"/>
                </a:solidFill>
              </a:rPr>
              <a:t>Revenue is heavily concentrated among male customers ($157,890 vs $75,191), suggesting marketing and promotions should prioritize this segment while exploring ways to grow female spend</a:t>
            </a:r>
            <a:r>
              <a:rPr lang="en-US" sz="1600" dirty="0"/>
              <a:t>.</a:t>
            </a:r>
            <a:endParaRPr sz="1600" dirty="0">
              <a:solidFill>
                <a:srgbClr val="1D3557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1ED24F2-BB2C-976D-A04A-B8EA9B636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1" y="3429000"/>
            <a:ext cx="4266138" cy="224408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0" y="365761"/>
            <a:ext cx="672793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D3557"/>
                </a:solidFill>
              </a:rPr>
              <a:t>Discounts Are Affecting Many Strong Purchases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52637" y="1828801"/>
            <a:ext cx="68580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Average purchase: $59.76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Discounted purchases: 1,677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Above-average discounted purchases: 839 (50.03%)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753600" y="1828800"/>
            <a:ext cx="2926080" cy="4114800"/>
          </a:xfrm>
          <a:prstGeom prst="roundRect">
            <a:avLst/>
          </a:prstGeom>
          <a:solidFill>
            <a:srgbClr val="E9C46A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 Insight</a:t>
            </a:r>
          </a:p>
          <a:p>
            <a:r>
              <a:rPr lang="en-US" sz="1600" dirty="0">
                <a:solidFill>
                  <a:schemeClr val="tx1"/>
                </a:solidFill>
              </a:rPr>
              <a:t>Many high value purchases are getting discounts . </a:t>
            </a:r>
            <a:r>
              <a:rPr lang="en-US" sz="1600" b="1" dirty="0">
                <a:solidFill>
                  <a:schemeClr val="tx1"/>
                </a:solidFill>
              </a:rPr>
              <a:t>50% of above average purchases were discounted</a:t>
            </a:r>
            <a:r>
              <a:rPr lang="en-US" sz="1600" dirty="0">
                <a:solidFill>
                  <a:schemeClr val="tx1"/>
                </a:solidFill>
              </a:rPr>
              <a:t> , which could be reducing revenue potential</a:t>
            </a:r>
            <a:r>
              <a:rPr sz="1600"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1" y="365761"/>
            <a:ext cx="6411627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D3557"/>
                </a:solidFill>
              </a:rPr>
              <a:t>Product Ratings Show a Few Reliable Leaders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09148" y="3079571"/>
            <a:ext cx="6858000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Leaders: Gloves, Sandals, Boots, Hat, Skirt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Ratings are tightly clustered (3.79–3.86)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52619" y="1828800"/>
            <a:ext cx="4627061" cy="4114800"/>
          </a:xfrm>
          <a:prstGeom prst="roundRect">
            <a:avLst/>
          </a:prstGeom>
          <a:solidFill>
            <a:srgbClr val="2A9D8F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 Insight</a:t>
            </a:r>
          </a:p>
          <a:p>
            <a:r>
              <a:rPr lang="en-US" sz="1600" dirty="0">
                <a:solidFill>
                  <a:schemeClr val="tx1"/>
                </a:solidFill>
              </a:rPr>
              <a:t>Product ratings highlight a few reliable leaders , Gloves, Sandals, Boots, Hat, and Skirt with scores tightly clustered between 3.79–3.86</a:t>
            </a:r>
            <a:r>
              <a:rPr lang="en-US" sz="1600" dirty="0"/>
              <a:t>.</a:t>
            </a:r>
            <a:endParaRPr sz="1600" dirty="0">
              <a:solidFill>
                <a:srgbClr val="1D355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0" y="365761"/>
            <a:ext cx="795935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D3557"/>
                </a:solidFill>
              </a:rPr>
              <a:t>Shipping Preference Has Limited Impact on Basket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8400" y="1828801"/>
            <a:ext cx="68580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Express: $60.48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Standard: $58.46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Difference: $2.02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38625" y="1828800"/>
            <a:ext cx="4361590" cy="4114800"/>
          </a:xfrm>
          <a:prstGeom prst="roundRect">
            <a:avLst/>
          </a:prstGeom>
          <a:solidFill>
            <a:srgbClr val="E9C46A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 Insight</a:t>
            </a:r>
          </a:p>
          <a:p>
            <a:r>
              <a:rPr lang="en-US" sz="1600" dirty="0">
                <a:solidFill>
                  <a:schemeClr val="tx1"/>
                </a:solidFill>
              </a:rPr>
              <a:t>Shipping preference has minimal impact on basket value , express orders average $60.48 versus $58.46 for standard, a difference of just $2.</a:t>
            </a:r>
            <a:endParaRPr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0" y="365761"/>
            <a:ext cx="4671792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D3557"/>
                </a:solidFill>
              </a:rPr>
              <a:t>Subscription Is Not Lifting Spend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63791" y="2421032"/>
            <a:ext cx="6858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Subscribers: 27.00% of customers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Revenue share: 26.88%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Avg spend: $59.49 vs $59.87</a:t>
            </a:r>
            <a:endParaRPr lang="en-US" sz="2000" dirty="0">
              <a:solidFill>
                <a:srgbClr val="1D3557"/>
              </a:solidFill>
            </a:endParaRPr>
          </a:p>
          <a:p>
            <a:pPr>
              <a:spcAft>
                <a:spcPts val="1000"/>
              </a:spcAft>
            </a:pPr>
            <a:br>
              <a:rPr lang="en-US" sz="2000" dirty="0">
                <a:solidFill>
                  <a:srgbClr val="1D3557"/>
                </a:solidFill>
              </a:rPr>
            </a:br>
            <a:endParaRPr sz="2000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962162" y="1787336"/>
            <a:ext cx="3948635" cy="4114800"/>
          </a:xfrm>
          <a:prstGeom prst="roundRect">
            <a:avLst/>
          </a:prstGeom>
          <a:solidFill>
            <a:srgbClr val="2A9D8F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 Insight</a:t>
            </a:r>
          </a:p>
          <a:p>
            <a:r>
              <a:rPr lang="en-US" sz="1600" dirty="0">
                <a:solidFill>
                  <a:schemeClr val="tx1"/>
                </a:solidFill>
              </a:rPr>
              <a:t>Subscriptions are not increasing customer spend. Subscribers make up 27% of customers but contribute almost the same revenue as non-subscribers, with average spend $59.49 vs $59.87</a:t>
            </a:r>
            <a:endParaRPr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0" y="365761"/>
            <a:ext cx="5287858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D3557"/>
                </a:solidFill>
              </a:rPr>
              <a:t>Discounting Is Broad Across Products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25446" y="3010937"/>
            <a:ext cx="6858000" cy="8361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Highest discount rates: Hat, Sneakers, Coat, Sweater, Pants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Promotions appear routine, not targeted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421329" y="1828800"/>
            <a:ext cx="4258351" cy="4114800"/>
          </a:xfrm>
          <a:prstGeom prst="roundRect">
            <a:avLst/>
          </a:prstGeom>
          <a:solidFill>
            <a:srgbClr val="E9C46A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 Insight</a:t>
            </a:r>
          </a:p>
          <a:p>
            <a:r>
              <a:rPr lang="en-US" sz="1600" b="1" dirty="0">
                <a:solidFill>
                  <a:schemeClr val="tx1"/>
                </a:solidFill>
              </a:rPr>
              <a:t>Discounts are applied broadly across products, with items like Hats, Sneakers, Coats, Sweaters, and Pants seeing the highest rates. Promotions appear routine rather than targeted, which may reduce profitability</a:t>
            </a:r>
            <a:endParaRPr sz="1600" b="1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1" y="365761"/>
            <a:ext cx="827348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D3557"/>
                </a:solidFill>
              </a:rPr>
              <a:t>The Customer Base Is Heavily Skewed Toward Loyal Buyers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8400" y="1828801"/>
            <a:ext cx="68580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Loyal: 79.90%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Returning: 17.97%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New: 2.13%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92556" y="1828801"/>
            <a:ext cx="4287848" cy="4114800"/>
          </a:xfrm>
          <a:prstGeom prst="roundRect">
            <a:avLst/>
          </a:prstGeom>
          <a:solidFill>
            <a:srgbClr val="2A9D8F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 Insight</a:t>
            </a:r>
          </a:p>
          <a:p>
            <a:r>
              <a:rPr lang="en-US" sz="1600" dirty="0">
                <a:solidFill>
                  <a:schemeClr val="tx1"/>
                </a:solidFill>
              </a:rPr>
              <a:t>The customer base is mostly loyal buyers (80%), with very few new customers (2%), highlighting strong retention but limited growth in acquiring new customers.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A2C7408-4D00-1F8F-1CB8-F53E5D3E25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3420985"/>
            <a:ext cx="4941693" cy="290607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1" y="365761"/>
            <a:ext cx="6885155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D3557"/>
                </a:solidFill>
              </a:rPr>
              <a:t>Category Winners Should Anchor Merchandising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077065" y="2979175"/>
            <a:ext cx="4950542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Accessories: Jewelry, Belt, Sunglasses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Clothing: Blouse, Pants, Shirt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Footwear: Sandals, Shoes, Sneakers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9665" y="1828801"/>
            <a:ext cx="4287847" cy="4114800"/>
          </a:xfrm>
          <a:prstGeom prst="roundRect">
            <a:avLst/>
          </a:prstGeom>
          <a:solidFill>
            <a:srgbClr val="E9C46A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 Insight</a:t>
            </a:r>
          </a:p>
          <a:p>
            <a:r>
              <a:rPr lang="en-US" sz="1600" dirty="0">
                <a:solidFill>
                  <a:schemeClr val="tx1"/>
                </a:solidFill>
              </a:rPr>
              <a:t>Top-selling items in each category ; </a:t>
            </a:r>
            <a:r>
              <a:rPr lang="en-US" sz="1600" b="1" dirty="0">
                <a:solidFill>
                  <a:schemeClr val="tx1"/>
                </a:solidFill>
              </a:rPr>
              <a:t>Accessories</a:t>
            </a:r>
            <a:r>
              <a:rPr lang="en-US" sz="1600" dirty="0">
                <a:solidFill>
                  <a:schemeClr val="tx1"/>
                </a:solidFill>
              </a:rPr>
              <a:t> (Jewelry, Belt, Sunglasses), </a:t>
            </a:r>
            <a:r>
              <a:rPr lang="en-US" sz="1600" b="1" dirty="0">
                <a:solidFill>
                  <a:schemeClr val="tx1"/>
                </a:solidFill>
              </a:rPr>
              <a:t>Clothing </a:t>
            </a:r>
            <a:r>
              <a:rPr lang="en-US" sz="1600" dirty="0">
                <a:solidFill>
                  <a:schemeClr val="tx1"/>
                </a:solidFill>
              </a:rPr>
              <a:t>(Blouse, Pants, Shirt), and </a:t>
            </a:r>
            <a:r>
              <a:rPr lang="en-US" sz="1600" b="1" dirty="0">
                <a:solidFill>
                  <a:schemeClr val="tx1"/>
                </a:solidFill>
              </a:rPr>
              <a:t>Footwear</a:t>
            </a:r>
            <a:r>
              <a:rPr lang="en-US" sz="1600" dirty="0">
                <a:solidFill>
                  <a:schemeClr val="tx1"/>
                </a:solidFill>
              </a:rPr>
              <a:t> (Sandals, Shoes, Sneakers), should be the focus of merchandising and promotions</a:t>
            </a:r>
            <a:endParaRPr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1" y="365761"/>
            <a:ext cx="7430239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D3557"/>
                </a:solidFill>
              </a:rPr>
              <a:t>Repeat Buying Is Not Strongly Linked to Subscription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8400" y="1828801"/>
            <a:ext cx="68580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Repeat buyer subscription: 27.56%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Overall: 27.00%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Lift: +0.56 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98658" y="1828801"/>
            <a:ext cx="4228854" cy="4114800"/>
          </a:xfrm>
          <a:prstGeom prst="roundRect">
            <a:avLst/>
          </a:prstGeom>
          <a:solidFill>
            <a:srgbClr val="2A9D8F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 Insight</a:t>
            </a:r>
          </a:p>
          <a:p>
            <a:r>
              <a:rPr lang="en-US" sz="1600" dirty="0">
                <a:solidFill>
                  <a:schemeClr val="tx1"/>
                </a:solidFill>
              </a:rPr>
              <a:t>Repeat buying is not strongly linked to subscriptions . Repeat buyers have a subscription rate of 27.6%, only slightly above the overall 27%.</a:t>
            </a:r>
            <a:r>
              <a:rPr sz="1600" dirty="0">
                <a:solidFill>
                  <a:schemeClr val="tx1"/>
                </a:solidFill>
              </a:rPr>
              <a:t>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D64ED08-8525-7CC7-F077-3E2F41465E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149" y="3288890"/>
            <a:ext cx="5422509" cy="265471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0" y="365761"/>
            <a:ext cx="5609036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D3557"/>
                </a:solidFill>
              </a:rPr>
              <a:t>Revenue Is Concentrated in Ages 26–65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8400" y="1828801"/>
            <a:ext cx="68580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46–55 leads at 19.57%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56–65 and 26–35 close behind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66+ lowest at 8.97%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864556" y="2290840"/>
            <a:ext cx="4096119" cy="4114800"/>
          </a:xfrm>
          <a:prstGeom prst="roundRect">
            <a:avLst/>
          </a:prstGeom>
          <a:solidFill>
            <a:srgbClr val="E9C46A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 Insight</a:t>
            </a:r>
          </a:p>
          <a:p>
            <a:r>
              <a:rPr lang="en-US" sz="1600" dirty="0">
                <a:solidFill>
                  <a:schemeClr val="tx1"/>
                </a:solidFill>
              </a:rPr>
              <a:t>Revenue is mostly from customers aged 26–65, with the 46–55 group leading at 19.6% and the 66+ group contributing the least (9%).</a:t>
            </a:r>
            <a:endParaRPr sz="1600" dirty="0">
              <a:solidFill>
                <a:schemeClr val="tx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785BE31-B9FF-B013-A9B7-126ADD1D45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5520" y="3563221"/>
            <a:ext cx="4316361" cy="272443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1" y="365761"/>
            <a:ext cx="3376181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 dirty="0">
                <a:solidFill>
                  <a:srgbClr val="1D3557"/>
                </a:solidFill>
              </a:rPr>
              <a:t>Recommended Actions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8400" y="1828801"/>
            <a:ext cx="6858000" cy="2144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Focus on highest-value demographic segments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Redesign subscription for measurable lift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Reduce blanket discounting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Push hero SKUs and category leaders</a:t>
            </a:r>
          </a:p>
          <a:p>
            <a:pPr>
              <a:spcAft>
                <a:spcPts val="1000"/>
              </a:spcAft>
            </a:pPr>
            <a:r>
              <a:rPr sz="2000" dirty="0">
                <a:solidFill>
                  <a:srgbClr val="1D3557"/>
                </a:solidFill>
              </a:rPr>
              <a:t>• Strengthen CRM journeys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28800"/>
            <a:ext cx="4155112" cy="4114800"/>
          </a:xfrm>
          <a:prstGeom prst="roundRect">
            <a:avLst/>
          </a:prstGeom>
          <a:solidFill>
            <a:srgbClr val="2A9D8F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 dirty="0">
                <a:solidFill>
                  <a:srgbClr val="1D3557"/>
                </a:solidFill>
              </a:rPr>
              <a:t>Executive</a:t>
            </a:r>
            <a:r>
              <a:rPr lang="en-US" sz="2200" b="1" dirty="0">
                <a:solidFill>
                  <a:srgbClr val="1D3557"/>
                </a:solidFill>
              </a:rPr>
              <a:t> 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</a:rPr>
              <a:t>Takeaways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sz="1600" dirty="0">
                <a:solidFill>
                  <a:schemeClr val="tx1"/>
                </a:solidFill>
              </a:rPr>
              <a:t>These recommendations aim to maximize revenue from high-value customers, improve subscription impact, and focus marketing and merchandising on proven winners. Implementing them will help drive sustainable growth and better ROI across customer segments.</a:t>
            </a:r>
            <a:endParaRPr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55521" y="365761"/>
            <a:ext cx="3175613" cy="49244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D3557"/>
                </a:solidFill>
              </a:rPr>
              <a:t>Next Step in Power BI</a:t>
            </a:r>
          </a:p>
        </p:txBody>
      </p:sp>
      <p:sp>
        <p:nvSpPr>
          <p:cNvPr id="3" name="Rectangle 2"/>
          <p:cNvSpPr/>
          <p:nvPr/>
        </p:nvSpPr>
        <p:spPr>
          <a:xfrm>
            <a:off x="2255520" y="1371600"/>
            <a:ext cx="2743200" cy="137160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438400" y="1828801"/>
            <a:ext cx="6858000" cy="12721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>
                <a:solidFill>
                  <a:srgbClr val="1D3557"/>
                </a:solidFill>
              </a:rPr>
              <a:t>• Build KPI-led overview dashboard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D3557"/>
                </a:solidFill>
              </a:rPr>
              <a:t>• Add Revenue, Discounts, Products, Loyalty pages</a:t>
            </a:r>
          </a:p>
          <a:p>
            <a:pPr>
              <a:spcAft>
                <a:spcPts val="1000"/>
              </a:spcAft>
            </a:pPr>
            <a:r>
              <a:rPr sz="2000">
                <a:solidFill>
                  <a:srgbClr val="1D3557"/>
                </a:solidFill>
              </a:rPr>
              <a:t>• Publish for stakeholder drill-down and refresh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2464872"/>
            <a:ext cx="4096118" cy="4114800"/>
          </a:xfrm>
          <a:prstGeom prst="roundRect">
            <a:avLst/>
          </a:prstGeom>
          <a:solidFill>
            <a:srgbClr val="E9C46A"/>
          </a:solidFill>
          <a:ln>
            <a:solidFill>
              <a:srgbClr val="1D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200" b="1">
                <a:solidFill>
                  <a:srgbClr val="1D3557"/>
                </a:solidFill>
              </a:rPr>
              <a:t>Executive Insight</a:t>
            </a:r>
          </a:p>
          <a:p>
            <a:r>
              <a:rPr sz="1600">
                <a:solidFill>
                  <a:srgbClr val="1D3557"/>
                </a:solidFill>
              </a:rPr>
              <a:t>Decision-ready takeaway designed for leadership discussion and fast action.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445CBFD-DFCC-24BF-F07C-622B4AC5E6FC}"/>
              </a:ext>
            </a:extLst>
          </p:cNvPr>
          <p:cNvSpPr txBox="1"/>
          <p:nvPr/>
        </p:nvSpPr>
        <p:spPr>
          <a:xfrm>
            <a:off x="2281238" y="642939"/>
            <a:ext cx="71294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/>
              <a:t>Questions?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35D3D4D-3AD1-67E4-1566-8975BABA99D2}"/>
              </a:ext>
            </a:extLst>
          </p:cNvPr>
          <p:cNvSpPr txBox="1"/>
          <p:nvPr/>
        </p:nvSpPr>
        <p:spPr>
          <a:xfrm>
            <a:off x="1524000" y="6488668"/>
            <a:ext cx="73009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chemeClr val="tx2"/>
                </a:solidFill>
              </a:rPr>
              <a:t>Contact : samkemboi201@gmai.com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F0921EC-0D23-34B0-83CF-FCB8E971DB26}"/>
              </a:ext>
            </a:extLst>
          </p:cNvPr>
          <p:cNvSpPr txBox="1"/>
          <p:nvPr/>
        </p:nvSpPr>
        <p:spPr>
          <a:xfrm>
            <a:off x="6096000" y="5286375"/>
            <a:ext cx="434340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i="1" dirty="0">
                <a:solidFill>
                  <a:schemeClr val="tx2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2536819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881</Words>
  <Application>Microsoft Office PowerPoint</Application>
  <PresentationFormat>Widescreen</PresentationFormat>
  <Paragraphs>102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samwel</dc:creator>
  <cp:keywords/>
  <dc:description>generated using python-pptx</dc:description>
  <cp:lastModifiedBy>Samwel Kipkemboi</cp:lastModifiedBy>
  <cp:revision>2</cp:revision>
  <dcterms:created xsi:type="dcterms:W3CDTF">2013-01-27T09:14:16Z</dcterms:created>
  <dcterms:modified xsi:type="dcterms:W3CDTF">2026-03-30T14:35:09Z</dcterms:modified>
  <cp:category/>
</cp:coreProperties>
</file>